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769A63F-9118-4AA8-BE03-898B8A4CA61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Untitled Section" id="{23E83912-9B50-45D9-8024-0122A6F44276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84D00-5EBE-45D4-80CD-7DE177C83E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A8FE80-4E69-4BD9-8365-5AA7908C14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75128-E1EE-4D43-B8FA-5D38A6291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D74F-461E-4C9B-B7F0-0BB31C1F7CC3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DAFBC-2CAB-42D6-BA06-22721908D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68094-05AD-4349-A886-1C8F3F968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4F3F7-2906-47C0-B53E-7BCE5ED173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860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5F206-49AA-4469-8DAB-D848CF671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157F2-425D-49E6-A974-53DC2386D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81569-B21B-4971-BFC0-25BAA9E17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D74F-461E-4C9B-B7F0-0BB31C1F7CC3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47DAA-FA1C-4FCF-B848-D0D6F0626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7AFFC-193A-4C2F-B0F2-7F996894E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4F3F7-2906-47C0-B53E-7BCE5ED173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464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4C2EC-AD91-47F8-820B-0ABF84D3B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236171-F315-479E-AB61-B70E5D930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8A9FE-0364-4DDE-B884-83E6E30AE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D74F-461E-4C9B-B7F0-0BB31C1F7CC3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01AA5-AEE0-4D11-85C0-97635090B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D1AB2-2F41-476D-A8E4-77EF1F7B6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4F3F7-2906-47C0-B53E-7BCE5ED173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624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1E713-5560-431A-9672-CBFA1D62A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4DC5E-5923-4868-94E7-B805C214F9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EC04CA-367B-4F12-A2E9-82B0B72A6B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92F47-830A-4A50-8A9B-10B0722AF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D74F-461E-4C9B-B7F0-0BB31C1F7CC3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91565-E544-4110-94F2-7CFD5C035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3E23F-0863-4732-8855-AD8F8557C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4F3F7-2906-47C0-B53E-7BCE5ED173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373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C45E5-C80B-403C-AE51-74E46BBD6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33DC7-7203-47B4-AB20-3AE5036051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846CA-B3AC-4FD6-AF6B-2CF6B3AD0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6D3D4E-4E3A-4289-B5C8-20F76AACBB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9ACD84-E019-4F6F-BC55-AF31B31CC5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9DF1EA-D106-47FF-8E39-FA3056D54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D74F-461E-4C9B-B7F0-0BB31C1F7CC3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2DD336-C949-42D0-8619-5D95C4F46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720A1C-152F-4BF2-B9C1-7FC96CAD9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4F3F7-2906-47C0-B53E-7BCE5ED173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830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3C43C-3DA9-4F85-8F97-6130AEBE2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F6F82A-4091-40B5-890A-FD8783EED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D74F-461E-4C9B-B7F0-0BB31C1F7CC3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42C7FD-BC3A-417C-8FF1-B38F2A47F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AA545A-0161-4F55-9404-F506564F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4F3F7-2906-47C0-B53E-7BCE5ED173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490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B40315-A96B-4B34-BC25-DA25361C7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D74F-461E-4C9B-B7F0-0BB31C1F7CC3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028C41-9463-447F-8D02-46CF6CDC4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A75FF-F534-4985-83AD-1AC7DCFB8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4F3F7-2906-47C0-B53E-7BCE5ED173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146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5069F-0C76-4844-AA6D-EFF4C7D26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D4BF1-A340-487D-841E-CD744DDEC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D7D485-C030-4DBA-BDA3-CD9774A9BB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14E2CD-70EF-4EF8-88DF-83C03CEF2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D74F-461E-4C9B-B7F0-0BB31C1F7CC3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20EF9-82F0-46C4-B1E1-1AE43A6BA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C308F8-C846-4B04-8830-4D06757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4F3F7-2906-47C0-B53E-7BCE5ED173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997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C927A-D615-4F28-8190-300F42D8C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D2DFAD-1DBE-4E0E-898C-99C5ADB086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8B421A-FDB1-4C30-89DD-2D1A042DF2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D16F8D-D421-4895-960E-C54950BE7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D74F-461E-4C9B-B7F0-0BB31C1F7CC3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C41E6-0F1B-451A-AE74-4573A84F0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D521B-C0D2-42BF-9DE0-EF3547972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4F3F7-2906-47C0-B53E-7BCE5ED173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26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F1AA8-5867-45A4-8CF6-BDEC4889E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21BDFF-BF84-4294-9901-EBD2F054C1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F9C15-15D7-47B8-A69A-CFF58FA7B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D74F-461E-4C9B-B7F0-0BB31C1F7CC3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D7940-FE19-4045-8585-4B28A9A29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21313-FAE5-4579-B9AC-B1CD94017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4F3F7-2906-47C0-B53E-7BCE5ED173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018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E92CF1-BC67-4475-91BC-229F1DD8DE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5E4C8C-7111-4D20-9C4D-42384EFB45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0337F-1A2E-4C95-B370-5F3640853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D74F-461E-4C9B-B7F0-0BB31C1F7CC3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8C946-0EC1-4061-8AB1-4A70495F0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82C34-2775-4EF5-B0A3-F3678EDE5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4F3F7-2906-47C0-B53E-7BCE5ED173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309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E9DE6B-0899-4966-B44B-63906FC38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C3541-57DC-46CC-928B-040F303B6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F185B-2BF2-4F6E-A94E-DF55445D59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51D74F-461E-4C9B-B7F0-0BB31C1F7CC3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D8606-62D1-4470-A5E9-A1CD5E301C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16887-6DE6-4D38-9B83-FF64C142D0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4F3F7-2906-47C0-B53E-7BCE5ED173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797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F51DC-0291-4183-9C6A-FF6E263889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0017" y="198784"/>
            <a:ext cx="8627166" cy="2663686"/>
          </a:xfrm>
        </p:spPr>
        <p:txBody>
          <a:bodyPr>
            <a:normAutofit/>
          </a:bodyPr>
          <a:lstStyle/>
          <a:p>
            <a:r>
              <a:rPr lang="en-US" sz="8000" dirty="0"/>
              <a:t>Superstore Sales Analysis Dashboard</a:t>
            </a:r>
            <a:endParaRPr lang="en-IN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2ED2F7-BF0D-4DB1-8BAF-6907D132B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48001"/>
            <a:ext cx="9144000" cy="3445564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Analytics Project-4</a:t>
            </a:r>
          </a:p>
          <a:p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  </a:t>
            </a:r>
          </a:p>
          <a:p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</a:t>
            </a:r>
            <a:r>
              <a:rPr lang="en-IN" dirty="0"/>
              <a:t>Prepared </a:t>
            </a:r>
            <a:r>
              <a:rPr lang="en-IN" dirty="0" err="1"/>
              <a:t>by:M.Neharshitha</a:t>
            </a:r>
            <a:endParaRPr lang="en-IN" dirty="0"/>
          </a:p>
          <a:p>
            <a:r>
              <a:rPr lang="en-IN" dirty="0"/>
              <a:t>                                                            </a:t>
            </a:r>
            <a:r>
              <a:rPr lang="en-IN" dirty="0" err="1"/>
              <a:t>Internship:Data</a:t>
            </a:r>
            <a:r>
              <a:rPr lang="en-IN" dirty="0"/>
              <a:t> Analytics intern-</a:t>
            </a:r>
          </a:p>
          <a:p>
            <a:r>
              <a:rPr lang="en-IN" dirty="0"/>
              <a:t>                      </a:t>
            </a:r>
            <a:r>
              <a:rPr lang="en-IN" dirty="0" err="1"/>
              <a:t>Decodelabs</a:t>
            </a:r>
            <a:endParaRPr lang="en-IN" dirty="0"/>
          </a:p>
          <a:p>
            <a:r>
              <a:rPr lang="en-IN" dirty="0"/>
              <a:t>                                                                    Tools </a:t>
            </a:r>
            <a:r>
              <a:rPr lang="en-IN" dirty="0" err="1"/>
              <a:t>Used:python,pandas,matplotlib</a:t>
            </a:r>
            <a:r>
              <a:rPr lang="en-IN" dirty="0"/>
              <a:t>,</a:t>
            </a:r>
          </a:p>
          <a:p>
            <a:r>
              <a:rPr lang="en-IN" dirty="0"/>
              <a:t>              </a:t>
            </a:r>
            <a:r>
              <a:rPr lang="en-IN" dirty="0" err="1"/>
              <a:t>vscode</a:t>
            </a:r>
            <a:r>
              <a:rPr lang="en-IN" dirty="0"/>
              <a:t>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9598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C8C64-B273-4BA1-9C5F-40B6BD966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4313"/>
            <a:ext cx="10515600" cy="927652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          </a:t>
            </a:r>
            <a:r>
              <a:rPr lang="en-US" sz="6600" dirty="0"/>
              <a:t>Project Overview</a:t>
            </a:r>
            <a:endParaRPr lang="en-IN" sz="6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B9AD3-8419-4D1F-AC1D-0F3DF0803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9043"/>
            <a:ext cx="10515600" cy="4387920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Objective</a:t>
            </a:r>
          </a:p>
          <a:p>
            <a:r>
              <a:rPr lang="en-US" sz="2000" dirty="0"/>
              <a:t>The objective of this project is to analyze Superstore sales data and identify business insights related to sales performance, customer behavior, product categories, and regional trends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IN" sz="3200" dirty="0"/>
              <a:t>Dataset Description</a:t>
            </a:r>
          </a:p>
          <a:p>
            <a:r>
              <a:rPr lang="en-IN" sz="2000" dirty="0"/>
              <a:t>Dataset: Superstore Sales </a:t>
            </a:r>
          </a:p>
          <a:p>
            <a:r>
              <a:rPr lang="en-IN" sz="2000" dirty="0" err="1"/>
              <a:t>DatasetRecords</a:t>
            </a:r>
            <a:r>
              <a:rPr lang="en-IN" sz="2000" dirty="0"/>
              <a:t>: 9,800+ transactions</a:t>
            </a:r>
          </a:p>
          <a:p>
            <a:r>
              <a:rPr lang="en-IN" sz="2000" dirty="0"/>
              <a:t>Regions: East, West, South, Central </a:t>
            </a:r>
          </a:p>
          <a:p>
            <a:r>
              <a:rPr lang="en-IN" sz="2000" dirty="0"/>
              <a:t>Categories: Furniture, Office Supplies, Technology</a:t>
            </a:r>
          </a:p>
          <a:p>
            <a:r>
              <a:rPr lang="en-IN" sz="2000" dirty="0"/>
              <a:t>Analysis Tool: Python</a:t>
            </a:r>
          </a:p>
        </p:txBody>
      </p:sp>
    </p:spTree>
    <p:extLst>
      <p:ext uri="{BB962C8B-B14F-4D97-AF65-F5344CB8AC3E}">
        <p14:creationId xmlns:p14="http://schemas.microsoft.com/office/powerpoint/2010/main" val="1812942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716E-C1C6-4580-8797-AF19BF027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Project Methodology</a:t>
            </a:r>
            <a:endParaRPr lang="en-IN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C2A60-E3D2-42CE-BD72-472E1977B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1. Data Collection </a:t>
            </a:r>
          </a:p>
          <a:p>
            <a:r>
              <a:rPr lang="en-US" sz="2200" dirty="0"/>
              <a:t>Collected sales transaction data from the Superstore dataset. </a:t>
            </a:r>
          </a:p>
          <a:p>
            <a:r>
              <a:rPr lang="en-US" dirty="0"/>
              <a:t>2. Data Cleaning</a:t>
            </a:r>
          </a:p>
          <a:p>
            <a:r>
              <a:rPr lang="en-US" sz="2200" dirty="0"/>
              <a:t>Handled date formats and prepared the dataset for analysis</a:t>
            </a:r>
            <a:r>
              <a:rPr lang="en-US" dirty="0"/>
              <a:t>.</a:t>
            </a:r>
          </a:p>
          <a:p>
            <a:r>
              <a:rPr lang="en-US" dirty="0"/>
              <a:t>3. Data Analysis</a:t>
            </a:r>
          </a:p>
          <a:p>
            <a:r>
              <a:rPr lang="en-US" sz="2200" dirty="0"/>
              <a:t>Analyzed sales, customers, orders, categories, and regions.</a:t>
            </a:r>
          </a:p>
          <a:p>
            <a:r>
              <a:rPr lang="en-US" dirty="0"/>
              <a:t>4. Data Visualization</a:t>
            </a:r>
          </a:p>
          <a:p>
            <a:r>
              <a:rPr lang="en-US" sz="2200" dirty="0"/>
              <a:t>Created charts to understand trends and business performance.</a:t>
            </a:r>
          </a:p>
          <a:p>
            <a:r>
              <a:rPr lang="en-US" dirty="0"/>
              <a:t>5. Business Insights </a:t>
            </a:r>
          </a:p>
          <a:p>
            <a:r>
              <a:rPr lang="en-US" sz="2200" dirty="0"/>
              <a:t>Generated recommendations based on analytical findings.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294203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17FC7-CE14-4344-A22F-3000AB0E5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148" y="365125"/>
            <a:ext cx="10452652" cy="1325563"/>
          </a:xfrm>
        </p:spPr>
        <p:txBody>
          <a:bodyPr/>
          <a:lstStyle/>
          <a:p>
            <a:r>
              <a:rPr lang="en-US" dirty="0"/>
              <a:t>                       </a:t>
            </a:r>
            <a:r>
              <a:rPr lang="en-US" sz="6000" dirty="0"/>
              <a:t>KPL Dashboard</a:t>
            </a:r>
            <a:endParaRPr lang="en-IN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A6F9D-B420-49D6-9E0E-A8FB8BD62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marL="0" indent="0">
              <a:buNone/>
            </a:pPr>
            <a:r>
              <a:rPr lang="en-US" sz="4000" dirty="0"/>
              <a:t>Key Performance Indicators (KPIs) </a:t>
            </a:r>
          </a:p>
          <a:p>
            <a:r>
              <a:rPr lang="en-US" dirty="0"/>
              <a:t>Total Sales </a:t>
            </a:r>
          </a:p>
          <a:p>
            <a:r>
              <a:rPr lang="en-US" sz="2000" dirty="0"/>
              <a:t>2261536.78</a:t>
            </a:r>
          </a:p>
          <a:p>
            <a:r>
              <a:rPr lang="en-US" dirty="0"/>
              <a:t>Total Orders</a:t>
            </a:r>
          </a:p>
          <a:p>
            <a:r>
              <a:rPr lang="en-US" sz="2000" dirty="0"/>
              <a:t>4922</a:t>
            </a:r>
          </a:p>
          <a:p>
            <a:r>
              <a:rPr lang="en-US" dirty="0"/>
              <a:t>Total Customers</a:t>
            </a:r>
          </a:p>
          <a:p>
            <a:r>
              <a:rPr lang="en-US" sz="2000" dirty="0"/>
              <a:t>793</a:t>
            </a:r>
          </a:p>
          <a:p>
            <a:r>
              <a:rPr lang="en-US" dirty="0" err="1"/>
              <a:t>ObservationThe</a:t>
            </a:r>
            <a:r>
              <a:rPr lang="en-US" dirty="0"/>
              <a:t> company generated substantial revenue through thousands of customer transactions across multiple regions.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6498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C00AA-A9FE-4FFA-B3CB-8193B20CA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</a:t>
            </a:r>
            <a:r>
              <a:rPr lang="en-US" sz="6000" dirty="0"/>
              <a:t>Sales by Region Analysis</a:t>
            </a:r>
            <a:endParaRPr lang="en-IN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EE2CC-B237-451A-8AD9-8CAB71120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4300" dirty="0"/>
              <a:t>Objective </a:t>
            </a:r>
          </a:p>
          <a:p>
            <a:pPr marL="0" indent="0">
              <a:buNone/>
            </a:pPr>
            <a:r>
              <a:rPr lang="en-US" dirty="0"/>
              <a:t>Analyze sales performance across different regions.</a:t>
            </a:r>
          </a:p>
          <a:p>
            <a:pPr marL="0" indent="0">
              <a:buNone/>
            </a:pPr>
            <a:r>
              <a:rPr lang="en-US" sz="4300" dirty="0"/>
              <a:t>Key Findings</a:t>
            </a:r>
          </a:p>
          <a:p>
            <a:r>
              <a:rPr lang="en-US" dirty="0"/>
              <a:t>West region recorded the highest sales performance.</a:t>
            </a:r>
          </a:p>
          <a:p>
            <a:r>
              <a:rPr lang="en-US" dirty="0"/>
              <a:t>East region contributed significantly to total revenue.</a:t>
            </a:r>
          </a:p>
          <a:p>
            <a:r>
              <a:rPr lang="en-US" dirty="0"/>
              <a:t>Central and South regions showed comparatively lower sales.</a:t>
            </a:r>
          </a:p>
          <a:p>
            <a:pPr marL="0" indent="0">
              <a:buNone/>
            </a:pPr>
            <a:r>
              <a:rPr lang="en-US" sz="4300" dirty="0"/>
              <a:t>Business Insight</a:t>
            </a:r>
          </a:p>
          <a:p>
            <a:pPr marL="0" indent="0">
              <a:buNone/>
            </a:pPr>
            <a:r>
              <a:rPr lang="en-US" dirty="0"/>
              <a:t>Regional sales performance varies considerably, indicating opportunities for targeted marketing and customer engagement strategies.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6981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52C0C-C585-455D-92A2-5CF5BB2D1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</a:t>
            </a:r>
            <a:r>
              <a:rPr lang="en-US" sz="6000" dirty="0"/>
              <a:t>Sales by category Analysis</a:t>
            </a:r>
            <a:endParaRPr lang="en-IN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C7406-95EC-4FF8-AE4E-C7529708E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dirty="0"/>
              <a:t>Objective</a:t>
            </a:r>
          </a:p>
          <a:p>
            <a:r>
              <a:rPr lang="en-US" dirty="0"/>
              <a:t>Evaluate the contribution of different product categories.</a:t>
            </a:r>
          </a:p>
          <a:p>
            <a:pPr marL="0" indent="0">
              <a:buNone/>
            </a:pPr>
            <a:r>
              <a:rPr lang="en-US" sz="4000" dirty="0"/>
              <a:t>Key Findings</a:t>
            </a:r>
          </a:p>
          <a:p>
            <a:r>
              <a:rPr lang="en-US" dirty="0"/>
              <a:t>Technology category generated the highest revenue.</a:t>
            </a:r>
          </a:p>
          <a:p>
            <a:r>
              <a:rPr lang="en-US" dirty="0"/>
              <a:t>Furniture category contributed significantly to overall sales.</a:t>
            </a:r>
          </a:p>
          <a:p>
            <a:r>
              <a:rPr lang="en-US" dirty="0"/>
              <a:t>Office Supplies maintained stable sales throughout the period.</a:t>
            </a:r>
          </a:p>
          <a:p>
            <a:pPr marL="0" indent="0">
              <a:buNone/>
            </a:pPr>
            <a:r>
              <a:rPr lang="en-US" sz="4300" dirty="0"/>
              <a:t>Business Insight</a:t>
            </a:r>
          </a:p>
          <a:p>
            <a:r>
              <a:rPr lang="en-US" dirty="0"/>
              <a:t>Technology products are the primary revenue drivers and should be prioritized in future business strategies.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8057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AD76A-8669-4499-9610-FEECE4EE6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</a:t>
            </a:r>
            <a:r>
              <a:rPr lang="en-US" sz="6000" dirty="0"/>
              <a:t>Monthly Sales Trend</a:t>
            </a:r>
            <a:endParaRPr lang="en-IN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FD118-410B-49C6-863F-84B11505A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dirty="0"/>
              <a:t>Objective </a:t>
            </a:r>
          </a:p>
          <a:p>
            <a:r>
              <a:rPr lang="en-US" dirty="0"/>
              <a:t>Understand how sales vary over time. </a:t>
            </a:r>
          </a:p>
          <a:p>
            <a:pPr marL="0" indent="0">
              <a:buNone/>
            </a:pPr>
            <a:r>
              <a:rPr lang="en-US" sz="4000" dirty="0"/>
              <a:t>Key Findings</a:t>
            </a:r>
          </a:p>
          <a:p>
            <a:r>
              <a:rPr lang="en-US" dirty="0"/>
              <a:t>Monthly sales show fluctuations throughout the year.</a:t>
            </a:r>
          </a:p>
          <a:p>
            <a:r>
              <a:rPr lang="en-US" dirty="0"/>
              <a:t>Certain months experienced higher sales volumes.</a:t>
            </a:r>
          </a:p>
          <a:p>
            <a:r>
              <a:rPr lang="en-US" dirty="0"/>
              <a:t>Seasonal demand patterns are visible in the data.</a:t>
            </a:r>
          </a:p>
          <a:p>
            <a:pPr marL="0" indent="0">
              <a:buNone/>
            </a:pPr>
            <a:r>
              <a:rPr lang="en-US" sz="4300" dirty="0"/>
              <a:t>Business Insight</a:t>
            </a:r>
          </a:p>
          <a:p>
            <a:r>
              <a:rPr lang="en-US" dirty="0"/>
              <a:t>Monitoring seasonal trends can help improve inventory management and marketing planning.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3178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263F9-8DCB-4ED2-9E75-5A6B26B21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</a:t>
            </a:r>
            <a:r>
              <a:rPr lang="en-US" sz="6000" dirty="0"/>
              <a:t>Top Performing Products</a:t>
            </a:r>
            <a:endParaRPr lang="en-IN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07E62-8738-4238-ADD7-0FE2395BF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4000" dirty="0"/>
              <a:t>Objective </a:t>
            </a:r>
          </a:p>
          <a:p>
            <a:r>
              <a:rPr lang="en-US" dirty="0"/>
              <a:t>Identify the products contributing the highest revenue.</a:t>
            </a:r>
          </a:p>
          <a:p>
            <a:pPr marL="0" indent="0">
              <a:buNone/>
            </a:pPr>
            <a:r>
              <a:rPr lang="en-US" sz="4000" dirty="0"/>
              <a:t>Key Findings</a:t>
            </a:r>
          </a:p>
          <a:p>
            <a:r>
              <a:rPr lang="en-US" dirty="0"/>
              <a:t>A small number of products account for a large portion of sales.</a:t>
            </a:r>
          </a:p>
          <a:p>
            <a:r>
              <a:rPr lang="en-US" dirty="0"/>
              <a:t>Top-performing products consistently generate high revenue.</a:t>
            </a:r>
          </a:p>
          <a:p>
            <a:pPr marL="0" indent="0">
              <a:buNone/>
            </a:pPr>
            <a:r>
              <a:rPr lang="en-US" sz="4000" dirty="0"/>
              <a:t>Business Insight</a:t>
            </a:r>
          </a:p>
          <a:p>
            <a:r>
              <a:rPr lang="en-US" dirty="0"/>
              <a:t>Maintaining stock availability and promoting high-performing products can improve profitability.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8943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A6D0F-50F8-450C-A83B-DB27757A6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896" y="365125"/>
            <a:ext cx="10465904" cy="1325563"/>
          </a:xfrm>
        </p:spPr>
        <p:txBody>
          <a:bodyPr>
            <a:normAutofit/>
          </a:bodyPr>
          <a:lstStyle/>
          <a:p>
            <a:r>
              <a:rPr lang="en-US" sz="6000" dirty="0"/>
              <a:t>               SCR Framework</a:t>
            </a:r>
            <a:endParaRPr lang="en-IN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F22A1-D0C4-4891-93B0-74A88C918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dirty="0"/>
              <a:t>Situation</a:t>
            </a:r>
          </a:p>
          <a:p>
            <a:r>
              <a:rPr lang="en-US" dirty="0"/>
              <a:t>The company operates across multiple regions and product categories with thousands of customer transactions.</a:t>
            </a:r>
          </a:p>
          <a:p>
            <a:pPr marL="0" indent="0">
              <a:buNone/>
            </a:pPr>
            <a:r>
              <a:rPr lang="en-US" sz="4000" dirty="0"/>
              <a:t>Complication</a:t>
            </a:r>
          </a:p>
          <a:p>
            <a:r>
              <a:rPr lang="en-US" dirty="0"/>
              <a:t>Sales performance is uneven across regions and categories, resulting in differences in revenue generation.</a:t>
            </a:r>
          </a:p>
          <a:p>
            <a:pPr marL="0" indent="0">
              <a:buNone/>
            </a:pPr>
            <a:r>
              <a:rPr lang="en-US" sz="4300" dirty="0"/>
              <a:t>Resolution</a:t>
            </a:r>
          </a:p>
          <a:p>
            <a:r>
              <a:rPr lang="en-US" dirty="0"/>
              <a:t>Focus on high-performing categories, improve strategies in low-performing regions, and optimize inventory management based on sales trends.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6764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7F6FA-C49D-4BFC-B7A9-879C9A417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</a:t>
            </a:r>
            <a:r>
              <a:rPr lang="en-US" sz="6000" dirty="0"/>
              <a:t>Recommendations</a:t>
            </a:r>
            <a:endParaRPr lang="en-IN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4DBA2-2AB0-4160-BAD9-742D030F9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700" dirty="0"/>
              <a:t>Strategic Recommendations</a:t>
            </a:r>
          </a:p>
          <a:p>
            <a:pPr marL="0" indent="0">
              <a:buNone/>
            </a:pPr>
            <a:r>
              <a:rPr lang="en-US" sz="4100" dirty="0"/>
              <a:t>Increase Regional Focus</a:t>
            </a:r>
          </a:p>
          <a:p>
            <a:r>
              <a:rPr lang="en-US" dirty="0"/>
              <a:t>Strengthen marketing activities in low-performing regions.</a:t>
            </a:r>
          </a:p>
          <a:p>
            <a:pPr marL="0" indent="0">
              <a:buNone/>
            </a:pPr>
            <a:r>
              <a:rPr lang="en-US" sz="4100" dirty="0"/>
              <a:t>Promote High-Selling Products</a:t>
            </a:r>
          </a:p>
          <a:p>
            <a:r>
              <a:rPr lang="en-US" dirty="0"/>
              <a:t>Increase visibility of top-performing products through targeted campaigns.</a:t>
            </a:r>
          </a:p>
          <a:p>
            <a:pPr marL="0" indent="0">
              <a:buNone/>
            </a:pPr>
            <a:r>
              <a:rPr lang="en-US" sz="4600" dirty="0"/>
              <a:t>Improve Inventory Planning</a:t>
            </a:r>
          </a:p>
          <a:p>
            <a:r>
              <a:rPr lang="en-US" dirty="0"/>
              <a:t>Use sales trends to maintain optimal stock levels.</a:t>
            </a:r>
          </a:p>
          <a:p>
            <a:pPr marL="0" indent="0">
              <a:buNone/>
            </a:pPr>
            <a:r>
              <a:rPr lang="en-US" sz="4600" dirty="0"/>
              <a:t>Enhance Customer Retention</a:t>
            </a:r>
          </a:p>
          <a:p>
            <a:r>
              <a:rPr lang="en-US" dirty="0"/>
              <a:t>Develop loyalty programs to encourage repeat purchases.</a:t>
            </a:r>
          </a:p>
          <a:p>
            <a:pPr marL="0" indent="0">
              <a:buNone/>
            </a:pPr>
            <a:r>
              <a:rPr lang="en-US" sz="4600" dirty="0"/>
              <a:t>Data-Driven Decision Making</a:t>
            </a:r>
          </a:p>
          <a:p>
            <a:r>
              <a:rPr lang="en-US" dirty="0"/>
              <a:t>Continue using analytics to monitor performance and guide business strategies.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2618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64A1D-639C-4547-9417-7FC8A3DE6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1873"/>
            <a:ext cx="10515600" cy="1325563"/>
          </a:xfrm>
        </p:spPr>
        <p:txBody>
          <a:bodyPr/>
          <a:lstStyle/>
          <a:p>
            <a:r>
              <a:rPr lang="en-US" dirty="0"/>
              <a:t>                        </a:t>
            </a:r>
            <a:r>
              <a:rPr lang="en-US" sz="6000" dirty="0"/>
              <a:t>Conclusion</a:t>
            </a:r>
            <a:endParaRPr lang="en-IN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FCF80-105A-4355-9B69-E1C7885AD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analysis successfully identified key sales trends, regional performance patterns, and product category contributions. </a:t>
            </a:r>
          </a:p>
          <a:p>
            <a:pPr marL="0" indent="0">
              <a:buNone/>
            </a:pPr>
            <a:r>
              <a:rPr lang="en-US" dirty="0"/>
              <a:t>The insights obtained from this project can help the organization:</a:t>
            </a:r>
          </a:p>
          <a:p>
            <a:r>
              <a:rPr lang="en-US" dirty="0"/>
              <a:t>Improve sales performance</a:t>
            </a:r>
          </a:p>
          <a:p>
            <a:r>
              <a:rPr lang="en-US" dirty="0"/>
              <a:t>Optimize inventory management</a:t>
            </a:r>
          </a:p>
          <a:p>
            <a:r>
              <a:rPr lang="en-US" dirty="0"/>
              <a:t>Enhance customer satisfaction</a:t>
            </a:r>
          </a:p>
          <a:p>
            <a:r>
              <a:rPr lang="en-US" dirty="0"/>
              <a:t>Support data-driven business decisions</a:t>
            </a:r>
          </a:p>
          <a:p>
            <a:pPr marL="0" indent="0">
              <a:buNone/>
            </a:pPr>
            <a:r>
              <a:rPr lang="en-US" dirty="0"/>
              <a:t>Overall, data analytics plays a crucial role in transforming raw data into meaningful business insights.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2040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BA1FD-C210-44D5-9559-A17AEC9CA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</a:t>
            </a:r>
            <a:r>
              <a:rPr lang="en-US" sz="8000" dirty="0"/>
              <a:t>Thank You</a:t>
            </a:r>
            <a:endParaRPr lang="en-IN" sz="8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FC052-BD91-4F81-BD5D-899E14D24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4800" dirty="0"/>
              <a:t>Questions &amp; Discussion</a:t>
            </a:r>
          </a:p>
          <a:p>
            <a:r>
              <a:rPr lang="en-IN" sz="4800" dirty="0"/>
              <a:t>Data Analytics Project – 4</a:t>
            </a:r>
          </a:p>
          <a:p>
            <a:r>
              <a:rPr lang="en-IN" sz="4800" dirty="0"/>
              <a:t>Prepared Using Python, Pandas, Matplotlib, and Data Visualization Techniques.</a:t>
            </a:r>
          </a:p>
        </p:txBody>
      </p:sp>
    </p:spTree>
    <p:extLst>
      <p:ext uri="{BB962C8B-B14F-4D97-AF65-F5344CB8AC3E}">
        <p14:creationId xmlns:p14="http://schemas.microsoft.com/office/powerpoint/2010/main" val="2207680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623</Words>
  <Application>Microsoft Office PowerPoint</Application>
  <PresentationFormat>Widescreen</PresentationFormat>
  <Paragraphs>105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Superstore Sales Analysis Dashboard</vt:lpstr>
      <vt:lpstr>                     Project Overview</vt:lpstr>
      <vt:lpstr>Project Methodology</vt:lpstr>
      <vt:lpstr>                       KPL Dashboard</vt:lpstr>
      <vt:lpstr>           Sales by Region Analysis</vt:lpstr>
      <vt:lpstr>          Sales by category Analysis</vt:lpstr>
      <vt:lpstr>                Monthly Sales Trend</vt:lpstr>
      <vt:lpstr>          Top Performing Products</vt:lpstr>
      <vt:lpstr>               SCR Framework</vt:lpstr>
      <vt:lpstr>                   Recommendations</vt:lpstr>
      <vt:lpstr>                        Conclusion</vt:lpstr>
      <vt:lpstr>                       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 Analysis Dashboard</dc:title>
  <dc:creator>ACER</dc:creator>
  <cp:lastModifiedBy>ACER</cp:lastModifiedBy>
  <cp:revision>7</cp:revision>
  <dcterms:created xsi:type="dcterms:W3CDTF">2026-06-11T09:33:38Z</dcterms:created>
  <dcterms:modified xsi:type="dcterms:W3CDTF">2026-06-11T10:13:44Z</dcterms:modified>
</cp:coreProperties>
</file>